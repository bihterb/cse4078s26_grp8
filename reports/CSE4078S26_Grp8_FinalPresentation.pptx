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C4DE"/>
                </a:solidFill>
                <a:latin typeface="Calibri"/>
              </a:rPr>
              <a:t>Fine-Tuning Small LLMs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Turkish Legal Question Answering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4B942"/>
                </a:solidFill>
                <a:latin typeface="Calibri"/>
              </a:rPr>
              <a:t>A QLoRA-Based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8229600" cy="2743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A4BE"/>
                </a:solidFill>
                <a:latin typeface="Calibri"/>
              </a:rPr>
              <a:t>CSE4078 Spring 2026  ·  Group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90AA"/>
                </a:solidFill>
                <a:latin typeface="Calibri"/>
              </a:rPr>
              <a:t>Ayşegül Bihter Banuşoğlu  ·  Kaan Camcı  ·  Yakup Mert Aslan  ·  Muhammed Taha Serdar  ·  Muhammet Akyüz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Presentation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2743200" cy="100584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73152" cy="1005840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E9AF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99616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  <a:latin typeface="Calibri"/>
              </a:rPr>
              <a:t>Problem &amp;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647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Turkish legal QA + mandatory corpus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97280"/>
            <a:ext cx="2743200" cy="100584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097280"/>
            <a:ext cx="73152" cy="1005840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11704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E9AF1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1499616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  <a:latin typeface="Calibri"/>
              </a:rPr>
              <a:t>Baseline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17647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Qwen2.5-1.5B vs Llama-3.2-3B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097280"/>
            <a:ext cx="2743200" cy="100584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097280"/>
            <a:ext cx="73152" cy="1005840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1704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E9AF1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499616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  <a:latin typeface="Calibri"/>
              </a:rPr>
              <a:t>QLoRA Fine-Tuning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647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4-bit NF4 + LoRA adapters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286000"/>
            <a:ext cx="2743200" cy="100584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286000"/>
            <a:ext cx="73152" cy="1005840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359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E9AF1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688336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  <a:latin typeface="Calibri"/>
              </a:rPr>
              <a:t>Results (1500 examples)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535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7 automatic metrics, full test split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2286000"/>
            <a:ext cx="2743200" cy="100584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46120" y="2286000"/>
            <a:ext cx="73152" cy="1005840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79" y="2359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E9AF1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79" y="2688336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  <a:latin typeface="Calibri"/>
              </a:rPr>
              <a:t>Error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79" y="29535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Real output examples before vs after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286000"/>
            <a:ext cx="2743200" cy="100584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2286000"/>
            <a:ext cx="73152" cy="1005840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359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E9AF1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688336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  <a:latin typeface="Calibri"/>
              </a:rPr>
              <a:t>Technical 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9535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Key choices + metric rationale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Task &amp; 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Mandatory dataset assigned for Group 8 — Turkish legal question answering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73152" cy="3566160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A7A"/>
                </a:solidFill>
                <a:latin typeface="Calibri"/>
              </a:rPr>
              <a:t>Why is Turkish Challenging for LLMs?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73152" cy="73152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62763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Agglutinative: one root produces dozens of word forms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73152" cy="73152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2677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Legal register uses formal Ottoman-influenced vocabulary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73152" cy="73152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907791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N-gram metrics (BLEU) undercount valid paraphrases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79"/>
            <a:ext cx="73152" cy="73152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5478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Most LLMs are pretrained on English-dominant corpora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097280"/>
            <a:ext cx="4160520" cy="356616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097280"/>
            <a:ext cx="73152" cy="356616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A7A"/>
                </a:solidFill>
                <a:latin typeface="Calibri"/>
              </a:rPr>
              <a:t>Renicames/turkish-law-chatbot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5727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Apache-2.0  ·  Hugging Face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01168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2057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E9AF1"/>
                </a:solidFill>
                <a:latin typeface="Calibri"/>
              </a:rPr>
              <a:t>14,900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3957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Total Q&amp;A pairs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83464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28803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E9AF1"/>
                </a:solidFill>
                <a:latin typeface="Calibri"/>
              </a:rPr>
              <a:t>13,354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32186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Training examples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365760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37033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E9AF1"/>
                </a:solidFill>
                <a:latin typeface="Calibri"/>
              </a:rPr>
              <a:t>1,500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0416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Test examples (held out)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4348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Fields: Soru (question)  ·  Cevap (reference answer) — Turkish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Baseline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Two instruction-tuned models in the 1B–4B range, evaluated on the full 1,500-example test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4114800" cy="3749039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4114800" cy="73152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4A7A"/>
                </a:solidFill>
                <a:latin typeface="Calibri"/>
              </a:rPr>
              <a:t>Qwen2.5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Qwen2.5-1.5B-Instruct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9AF1"/>
                </a:solidFill>
                <a:latin typeface="Calibri"/>
              </a:rPr>
              <a:t>1.5B 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6771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Alibaba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78608"/>
            <a:ext cx="3749039" cy="18288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724912"/>
            <a:ext cx="109728" cy="10972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700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Compact, fast inference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273552"/>
            <a:ext cx="109728" cy="10972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186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Strong multilingual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22191"/>
            <a:ext cx="109728" cy="10972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6732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BFloat16 precision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051560"/>
            <a:ext cx="4114800" cy="3749039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1051560"/>
            <a:ext cx="4114800" cy="7315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4A7A"/>
                </a:solidFill>
                <a:latin typeface="Calibri"/>
              </a:rPr>
              <a:t>Llama 3.2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6002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Llama-3.2-3B-Instruct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9202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B942"/>
                </a:solidFill>
                <a:latin typeface="Calibri"/>
              </a:rPr>
              <a:t>3B params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26771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Meta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2578608"/>
            <a:ext cx="3749039" cy="18288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66360" y="2724912"/>
            <a:ext cx="109728" cy="10972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26700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Latest Llama generation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66360" y="3273552"/>
            <a:ext cx="109728" cy="10972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32186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Better instruction following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66360" y="3822191"/>
            <a:ext cx="109728" cy="10972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376732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Selected for fine-tuning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4498848"/>
            <a:ext cx="4114800" cy="30175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453542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★  Selected for QLoRA fine-tuning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Baseline Evaluation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Both models evaluated on 1,500 test examples — greedy decoding, max 100 new tokens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1975104" cy="41148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097280"/>
            <a:ext cx="969264" cy="41148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14300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ROUGE-1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97280"/>
            <a:ext cx="969264" cy="41148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14300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ROUGE-2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097280"/>
            <a:ext cx="969264" cy="41148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14300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ROUGE-L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097280"/>
            <a:ext cx="969264" cy="41148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14300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BLEU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097280"/>
            <a:ext cx="969264" cy="41148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14300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chrF++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79" y="1097280"/>
            <a:ext cx="969264" cy="41148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9" y="114300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1097280"/>
            <a:ext cx="969264" cy="41148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14300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BERTScore F1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508760"/>
            <a:ext cx="1975104" cy="420624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" y="1581912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7A"/>
                </a:solidFill>
                <a:latin typeface="Calibri"/>
              </a:rPr>
              <a:t>Qwen2.5-1.5B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0280" y="1508760"/>
            <a:ext cx="969264" cy="420624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95144" y="158191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0.2609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1508760"/>
            <a:ext cx="969264" cy="420624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00984" y="158191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0.1271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1508760"/>
            <a:ext cx="969264" cy="420624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06824" y="158191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0.2126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1508760"/>
            <a:ext cx="969264" cy="420624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12664" y="158191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0.0688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1508760"/>
            <a:ext cx="969264" cy="420624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8503" y="158191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0.2810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79" y="1508760"/>
            <a:ext cx="969264" cy="420624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24344" y="158191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0.1648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19" y="1508760"/>
            <a:ext cx="969264" cy="420624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3" y="158191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0.8667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1965960"/>
            <a:ext cx="197510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" y="2039112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7A"/>
                </a:solidFill>
                <a:latin typeface="Calibri"/>
              </a:rPr>
              <a:t>Llama-3.2-3B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40280" y="1965960"/>
            <a:ext cx="96926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95144" y="203911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0.2896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1965960"/>
            <a:ext cx="96926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00984" y="203911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0.1597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0" y="1965960"/>
            <a:ext cx="96926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06824" y="203911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0.2506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1965960"/>
            <a:ext cx="96926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12664" y="203911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0.1002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1965960"/>
            <a:ext cx="96926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18503" y="203911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0.2802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69479" y="1965960"/>
            <a:ext cx="96926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24344" y="203911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0.1979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19" y="1965960"/>
            <a:ext cx="96926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0183" y="203911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0.8740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2788920"/>
            <a:ext cx="8686800" cy="100584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8600" y="2788920"/>
            <a:ext cx="73152" cy="1005840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2852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4A7A"/>
                </a:solidFill>
                <a:latin typeface="Calibri"/>
              </a:rPr>
              <a:t>Key Takeaway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320040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Llama-3.2-3B outperforms Qwen2.5-1.5B across most metrics despite the 2× parameter difference. Both models show low BLEU (0.07–0.10) but high BERTScore (0.87), meaning they understand the topic but cannot reproduce exact legal phrasing. → Fine-tuning Llama is the most promising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QLoRA Fine-Tuning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4-bit quantized base model + low-rank adapters — only ~1% of parameters trained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4114800" cy="3749039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73152" cy="3749039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7A"/>
                </a:solidFill>
                <a:latin typeface="Calibri"/>
              </a:rPr>
              <a:t>What is QLoRA?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640080" cy="310896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709928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Quantize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73352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Load base model in 4-bit NF4 (saves ~75% VRAM)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95728"/>
            <a:ext cx="640080" cy="310896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441448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04872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Add small trainable rank-16 matrices to attention &amp; MLP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27248"/>
            <a:ext cx="640080" cy="310896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172968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136392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Only adapters are updated — base weights frozen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58768"/>
            <a:ext cx="640080" cy="310896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904488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867912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Adapters merged at inference, no speed penalty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1051560"/>
            <a:ext cx="4160520" cy="3749039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1051560"/>
            <a:ext cx="73152" cy="3749039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11430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7A"/>
                </a:solidFill>
                <a:latin typeface="Calibri"/>
              </a:rPr>
              <a:t>Hyperparameters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166420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A7A"/>
                </a:solidFill>
                <a:latin typeface="Calibri"/>
              </a:rPr>
              <a:t>Quantization: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66420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4-bit NF4 + double quantization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198424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A7A"/>
                </a:solidFill>
                <a:latin typeface="Calibri"/>
              </a:rPr>
              <a:t>LoRA rank 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98424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16  (α = 32, dropout = 0.05)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30428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A7A"/>
                </a:solidFill>
                <a:latin typeface="Calibri"/>
              </a:rPr>
              <a:t>Target modules: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30428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q/k/v/o_proj, gate/up/down_proj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262432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A7A"/>
                </a:solidFill>
                <a:latin typeface="Calibri"/>
              </a:rPr>
              <a:t>Learning rate: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62432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2 × 10⁻⁴ (cosine, warmup 3%)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94436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A7A"/>
                </a:solidFill>
                <a:latin typeface="Calibri"/>
              </a:rPr>
              <a:t>Batch size: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94436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4 × 4 grad accum = effective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26440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A7A"/>
                </a:solidFill>
                <a:latin typeface="Calibri"/>
              </a:rPr>
              <a:t>Epochs: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26440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358444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A7A"/>
                </a:solidFill>
                <a:latin typeface="Calibri"/>
              </a:rPr>
              <a:t>Max seq length: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512 tokens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904487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A7A"/>
                </a:solidFill>
                <a:latin typeface="Calibri"/>
              </a:rPr>
              <a:t>Precision: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904487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BFloat16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22452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A7A"/>
                </a:solidFill>
                <a:latin typeface="Calibri"/>
              </a:rPr>
              <a:t>Hardware: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22452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NVIDIA RTX 3090 24 GB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54456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A7A"/>
                </a:solidFill>
                <a:latin typeface="Calibri"/>
              </a:rPr>
              <a:t>Training time: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54456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~5 hours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Fine-Tuning Results — Key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Llama-3.2-3B baseline  →  Llama-3.2-3B + QLoRA  (1,500 test examples)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651760" cy="3291840"/>
          </a:xfrm>
          <a:prstGeom prst="rect">
            <a:avLst/>
          </a:prstGeom>
          <a:solidFill>
            <a:srgbClr val="1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651760" cy="6400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4E9AF1"/>
                </a:solidFill>
                <a:latin typeface="Calibri"/>
              </a:rPr>
              <a:t>+134%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ROUGE-L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0.2506 → 0.5874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1234440"/>
            <a:ext cx="2651760" cy="3291840"/>
          </a:xfrm>
          <a:prstGeom prst="rect">
            <a:avLst/>
          </a:prstGeom>
          <a:solidFill>
            <a:srgbClr val="1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5848" y="1234440"/>
            <a:ext cx="2651760" cy="6400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4630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4B942"/>
                </a:solidFill>
                <a:latin typeface="Calibri"/>
              </a:rPr>
              <a:t>+371%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514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BLEU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971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0.1002 → 0.4720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234440"/>
            <a:ext cx="2651760" cy="3291840"/>
          </a:xfrm>
          <a:prstGeom prst="rect">
            <a:avLst/>
          </a:prstGeom>
          <a:solidFill>
            <a:srgbClr val="1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1234440"/>
            <a:ext cx="265176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14630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6A34A"/>
                </a:solidFill>
                <a:latin typeface="Calibri"/>
              </a:rPr>
              <a:t>+7.2 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514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BERTScore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971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0.8740 → 0.9369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09AB4"/>
                </a:solidFill>
                <a:latin typeface="Calibri"/>
              </a:rPr>
              <a:t>All 7 metrics improved. BERTScore shows strong semantic alignment with reference answers.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Complete Evaluation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All three models on 1,500 test examples — 7 automatic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2249424" cy="38404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" y="1143000"/>
            <a:ext cx="22128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097280"/>
            <a:ext cx="923544" cy="38404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05456" y="1143000"/>
            <a:ext cx="8869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ROUGE-1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097280"/>
            <a:ext cx="923544" cy="38404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6" y="1143000"/>
            <a:ext cx="8869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ROUGE-2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097280"/>
            <a:ext cx="923544" cy="38404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1143000"/>
            <a:ext cx="8869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ROUGE-L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097280"/>
            <a:ext cx="923544" cy="38404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5816" y="1143000"/>
            <a:ext cx="8869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BLEU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1097280"/>
            <a:ext cx="923544" cy="38404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143000"/>
            <a:ext cx="8869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chrF++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79" y="1097280"/>
            <a:ext cx="923544" cy="38404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6055" y="1143000"/>
            <a:ext cx="8869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097280"/>
            <a:ext cx="923544" cy="38404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143000"/>
            <a:ext cx="8869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BERTScore F1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481328"/>
            <a:ext cx="2249424" cy="43891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15636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4A7A"/>
                </a:solidFill>
                <a:latin typeface="Calibri"/>
              </a:rPr>
              <a:t>Qwen2.5-1.5B (baseline)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1481328"/>
            <a:ext cx="923544" cy="43891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15636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Calibri"/>
              </a:rPr>
              <a:t>0.2609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1481328"/>
            <a:ext cx="923544" cy="43891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15636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Calibri"/>
              </a:rPr>
              <a:t>0.1271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1481328"/>
            <a:ext cx="923544" cy="43891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15636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Calibri"/>
              </a:rPr>
              <a:t>0.2126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1481328"/>
            <a:ext cx="923544" cy="43891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59" y="15636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Calibri"/>
              </a:rPr>
              <a:t>0.0688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59" y="1481328"/>
            <a:ext cx="923544" cy="43891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79" y="15636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Calibri"/>
              </a:rPr>
              <a:t>0.2810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79" y="1481328"/>
            <a:ext cx="923544" cy="43891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199" y="15636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Calibri"/>
              </a:rPr>
              <a:t>0.1648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1481328"/>
            <a:ext cx="923544" cy="43891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15636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Calibri"/>
              </a:rPr>
              <a:t>0.8667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1956815"/>
            <a:ext cx="224942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203911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4A7A"/>
                </a:solidFill>
                <a:latin typeface="Calibri"/>
              </a:rPr>
              <a:t>Llama-3.2-3B (baseline)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1956815"/>
            <a:ext cx="92354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2039111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Calibri"/>
              </a:rPr>
              <a:t>0.2896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29000" y="1956815"/>
            <a:ext cx="92354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0" y="2039111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Calibri"/>
              </a:rPr>
              <a:t>0.1597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1956815"/>
            <a:ext cx="92354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2039111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Calibri"/>
              </a:rPr>
              <a:t>0.2506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9240" y="1956815"/>
            <a:ext cx="92354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59" y="2039111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Calibri"/>
              </a:rPr>
              <a:t>0.1002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59" y="1956815"/>
            <a:ext cx="92354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79" y="2039111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Calibri"/>
              </a:rPr>
              <a:t>0.2802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69479" y="1956815"/>
            <a:ext cx="92354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199" y="2039111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Calibri"/>
              </a:rPr>
              <a:t>0.1979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1956815"/>
            <a:ext cx="92354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20" y="2039111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02C"/>
                </a:solidFill>
                <a:latin typeface="Calibri"/>
              </a:rPr>
              <a:t>0.8740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2432304"/>
            <a:ext cx="2249424" cy="43891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8600" y="2514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4A7A"/>
                </a:solidFill>
                <a:latin typeface="Calibri"/>
              </a:rPr>
              <a:t>Llama-3.2-3B (fine-tuned)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0" y="2432304"/>
            <a:ext cx="923544" cy="43891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14600" y="25146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  <a:latin typeface="Calibri"/>
              </a:rPr>
              <a:t>0.6186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29000" y="2432304"/>
            <a:ext cx="923544" cy="43891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0" y="25146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  <a:latin typeface="Calibri"/>
              </a:rPr>
              <a:t>0.5163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89120" y="2432304"/>
            <a:ext cx="923544" cy="43891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34840" y="25146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  <a:latin typeface="Calibri"/>
              </a:rPr>
              <a:t>0.5874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49240" y="2432304"/>
            <a:ext cx="923544" cy="43891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94959" y="25146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  <a:latin typeface="Calibri"/>
              </a:rPr>
              <a:t>0.4720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59" y="2432304"/>
            <a:ext cx="923544" cy="43891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55079" y="25146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  <a:latin typeface="Calibri"/>
              </a:rPr>
              <a:t>0.6038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69479" y="2432304"/>
            <a:ext cx="923544" cy="43891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199" y="25146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  <a:latin typeface="Calibri"/>
              </a:rPr>
              <a:t>0.5419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2432304"/>
            <a:ext cx="923544" cy="43891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75320" y="25146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  <a:latin typeface="Calibri"/>
              </a:rPr>
              <a:t>0.9369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32520" y="2487168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Calibri"/>
              </a:rPr>
              <a:t>↑ Best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2880" y="452628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chrF++ uses word_order=2 (character + word n-grams) — better for agglutinative Turkish than BLEU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Error Analysis — Before vs After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Baseline models understand the topic but cannot reproduce legal phrasing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5943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73152" cy="59436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A7A"/>
                </a:solidFill>
                <a:latin typeface="Calibri"/>
              </a:rPr>
              <a:t>Question: "İş akdinin işveren tarafından feshedilmesi halinde işçi kıdem tazminatına hak kazanır mı?"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Reference: "İş sözleşmesi işveren tarafından feshedilen ve en az bir yıl kıdemi bulunan işçi kıdem tazminatına hak kazanır."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4206240" cy="310896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828800"/>
            <a:ext cx="4206240" cy="54864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920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E9AF1"/>
                </a:solidFill>
                <a:latin typeface="Calibri"/>
              </a:rPr>
              <a:t>Llama-3.2-3B 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286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202C"/>
                </a:solidFill>
                <a:latin typeface="Calibri"/>
              </a:rPr>
              <a:t>İşçinin kıdem tazminatına hak kazanıp kazanmadığı, iş sözleşmesinin koşullarına ve Türk iş hukukuna göre değişiklik gösterir. Genel olarak işçinin hakları korunmaktadır. Bu konuda bir avukattan destek almanızı öneririz.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56432"/>
            <a:ext cx="4023360" cy="18288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5204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Generic answer — no legal precision. Mentions 'varies' and 'consult a lawyer' instead of citing the actual rule. BLEU ≈ 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59" y="1828800"/>
            <a:ext cx="4206240" cy="310896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59" y="1828800"/>
            <a:ext cx="42062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920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Llama-3.2-3B  FINE-TUNED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286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202C"/>
                </a:solidFill>
                <a:latin typeface="Calibri"/>
              </a:rPr>
              <a:t>İş sözleşmesi işveren tarafından feshedilen ve en az bir yıl kıdemi bulunan işçi kıdem tazminatına hak kazanır.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599" y="3456432"/>
            <a:ext cx="4023360" cy="18288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5204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Matches reference almost exactly — correct legal rule, correct terminology, correct length. ROUGE-L ≈ 0.89.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Real Model Output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Actual outputs from the test split — fine-tuned model learns precise legal phrasing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8595360" cy="182880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73152" cy="18288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A7A"/>
                </a:solidFill>
                <a:latin typeface="Calibri"/>
              </a:rPr>
              <a:t>Q: Toplu iş sözleşmesi yapma hakkı neyi kapsar?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Reference: İşçiler ve işverenler, karşılıklı olarak ekonomik ve sosyal durumlarını ve çalışma şartlarını düzenlemek amacıyla toplu iş sözleşmesi yapma hakkına sahiptirler.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64208"/>
            <a:ext cx="3931920" cy="8229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64208"/>
            <a:ext cx="3931920" cy="54864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0078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2222"/>
                </a:solidFill>
                <a:latin typeface="Calibri"/>
              </a:rPr>
              <a:t>Baseline  —  ROUGE-L: 0.18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11095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Toplu iş sözleşmesi yapma hakkı, işverenlerin işçi ve işçi sendikaları ile işveren sendikaları arasında yapılan sözleşmelerdir. Bu sözleşme çalışma koşullarını belirler.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664208"/>
            <a:ext cx="4023360" cy="822960"/>
          </a:xfrm>
          <a:prstGeom prst="rect">
            <a:avLst/>
          </a:prstGeom>
          <a:solidFill>
            <a:srgbClr val="EAF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664208"/>
            <a:ext cx="40233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700784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Calibri"/>
              </a:rPr>
              <a:t>Fine-tuned  —  ROUGE-L: 1.00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911095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İşçiler ve işverenler, karşılıklı olarak ekonomik ve sosyal durumlarını ve çalışma şartlarını düzenlemek amacıyla toplu iş sözleşmesi yapma hakkına sahiptirler.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8595360" cy="182880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017520"/>
            <a:ext cx="73152" cy="18288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90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A7A"/>
                </a:solidFill>
                <a:latin typeface="Calibri"/>
              </a:rPr>
              <a:t>Q: Kamulaştırma kararına karşı Anayasa Mahkemesi'ne başvurabilir miyim?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3649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Reference: Anayasa Mahkemesi'ne başvurabilmek için önce tüm iç hukuk yollarını tüketmiş olmanız gerekmektedir.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75888"/>
            <a:ext cx="3931920" cy="8229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75888"/>
            <a:ext cx="3931920" cy="54864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1246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2222"/>
                </a:solidFill>
                <a:latin typeface="Calibri"/>
              </a:rPr>
              <a:t>Baseline  —  ROUGE-L: 0.13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22776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Evet, kamu kuruluşları ile ilgili bir meselede Anayasa Mahkemesine başvurabilirsiniz.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675888"/>
            <a:ext cx="4023360" cy="822960"/>
          </a:xfrm>
          <a:prstGeom prst="rect">
            <a:avLst/>
          </a:prstGeom>
          <a:solidFill>
            <a:srgbClr val="EAF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3675888"/>
            <a:ext cx="40233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3712464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Calibri"/>
              </a:rPr>
              <a:t>Fine-tuned  —  ROUGE-L: 0.81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922776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Anayasa Mahkemesi'ne başvurmadan önce tüm iç hukuk yollarını tüketmiş olmanız şarttır.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Critical Technical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Each choice was deliberate — here is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71323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73152" cy="713232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7A"/>
                </a:solidFill>
                <a:latin typeface="Calibri"/>
              </a:rPr>
              <a:t>Chat Template 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115568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Both baseline eval AND fine-tuning use the same Llama chat template with the same system prompt. Without this, the fine-tuned model would have an unfair format advantage over the baseline.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56231"/>
            <a:ext cx="8595360" cy="71323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856231"/>
            <a:ext cx="73152" cy="71323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3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7A"/>
                </a:solidFill>
                <a:latin typeface="Calibri"/>
              </a:rPr>
              <a:t>NF4 over INT4 Quantization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920239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LLM weights follow a normal distribution. NF4 (Normal Float 4) is information-theoretically optimal for this distribution — preserves more signal per bit than standard INT4.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60904"/>
            <a:ext cx="8595360" cy="71323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660904"/>
            <a:ext cx="73152" cy="7132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249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7A"/>
                </a:solidFill>
                <a:latin typeface="Calibri"/>
              </a:rPr>
              <a:t>7 LoRA Target Modules (Attention + MLP)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724912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Standard LoRA targets only q_proj/v_proj. We also target gate/up/down_proj (MLP). Research shows including MLP layers significantly improves domain adaptation quality.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465576"/>
            <a:ext cx="8595360" cy="71323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465576"/>
            <a:ext cx="73152" cy="713232"/>
          </a:xfrm>
          <a:prstGeom prst="rect">
            <a:avLst/>
          </a:prstGeom>
          <a:solidFill>
            <a:srgbClr val="A85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295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7A"/>
                </a:solidFill>
                <a:latin typeface="Calibri"/>
              </a:rPr>
              <a:t>Why 5 Epochs?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529584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With 13,354 training examples, 3 epochs risks underfitting. Beyond 5-6 epochs the model begins memorizing phrasing rather than learning legal reasoning — diminishing returns on test set.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270248"/>
            <a:ext cx="8595360" cy="71323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270248"/>
            <a:ext cx="73152" cy="713232"/>
          </a:xfrm>
          <a:prstGeom prst="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3342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7A"/>
                </a:solidFill>
                <a:latin typeface="Calibri"/>
              </a:rPr>
              <a:t>Train/Test Contamination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334256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We verified zero overlap between the 13,354 train examples and 1,500 test examples. The test split was never seen during training, fine-tuning, or hyperparameter selection.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Why These 7 Metrics?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Each metric captures a different dimension — no single metric tells the full story for Turkish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694944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73152" cy="694944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E9AF1"/>
                </a:solidFill>
                <a:latin typeface="Calibri"/>
              </a:rPr>
              <a:t>ROUGE-1 / 2 / 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14300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Standard NLP benchmark. Unigram, bigram, and longest common subsequence overlap with reference. Widely used — makes results comparable with other papers.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37943"/>
            <a:ext cx="8595360" cy="694944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837943"/>
            <a:ext cx="73152" cy="694944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9384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B942"/>
                </a:solidFill>
                <a:latin typeface="Calibri"/>
              </a:rPr>
              <a:t>BLEU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1929384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Precision-focused n-gram metric with brevity penalty. Low scores for baselines (0.07–0.10) reveal that models understand the topic but cannot reproduce exact phrasing.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24328"/>
            <a:ext cx="8595360" cy="694944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624328"/>
            <a:ext cx="73152" cy="6949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15768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chrF++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715768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Character n-gram F-score + word order penalty. Designed for morphologically rich languages. Turkish is agglutinative — one root produces many word forms that BLEU misses but chrF++ captures.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410712"/>
            <a:ext cx="8595360" cy="694944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410712"/>
            <a:ext cx="73152" cy="694944"/>
          </a:xfrm>
          <a:prstGeom prst="rect">
            <a:avLst/>
          </a:prstGeom>
          <a:solidFill>
            <a:srgbClr val="A85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02152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CD0"/>
                </a:solidFill>
                <a:latin typeface="Calibri"/>
              </a:rPr>
              <a:t>TF-IDF Cosine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502152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Lexical overlap without n-gram ordering constraints. Complementary signal to ROUGE for legal vocabulary.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197096"/>
            <a:ext cx="8595360" cy="694944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197096"/>
            <a:ext cx="73152" cy="694944"/>
          </a:xfrm>
          <a:prstGeom prst="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88536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6C00"/>
                </a:solidFill>
                <a:latin typeface="Calibri"/>
              </a:rPr>
              <a:t>BERTScore 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288536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Contextual embedding similarity using XLM-RoBERTa (100 languages including Turkish). Captures semantic correctness even when exact wording differs — baseline BERTScore (0.87) confirms models understand the topic despite low BLEU.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8595360" cy="84124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73152" cy="84124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A7A"/>
                </a:solidFill>
                <a:latin typeface="Calibri"/>
              </a:rPr>
              <a:t>QLoRA works extremely well for Turkish legal 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90472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5 epochs on 13,354 examples → +134% ROUGE-L, +371% BLEU vs 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8595360" cy="84124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73152" cy="84124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84832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A7A"/>
                </a:solidFill>
                <a:latin typeface="Calibri"/>
              </a:rPr>
              <a:t>Larger baseline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50592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Llama-3.2-3B (3B) outperforms Qwen2.5 (1.5B) — invest in the stronger base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71800"/>
            <a:ext cx="8595360" cy="84124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971800"/>
            <a:ext cx="73152" cy="8412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44952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A7A"/>
                </a:solidFill>
                <a:latin typeface="Calibri"/>
              </a:rPr>
              <a:t>chrF++ and BERTScore are better metrics for Turkish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10712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BLEU underestimates performance on agglutinative languages; chrF++ and BERTScore are more informative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31920"/>
            <a:ext cx="8595360" cy="84124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73152" cy="841248"/>
          </a:xfrm>
          <a:prstGeom prst="rect">
            <a:avLst/>
          </a:prstGeom>
          <a:solidFill>
            <a:srgbClr val="A85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05072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A7A"/>
                </a:solidFill>
                <a:latin typeface="Calibri"/>
              </a:rPr>
              <a:t>Test set never touched during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70832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Clean evaluation: zero contamination between the 13,354 train and 1,500 test examples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4B942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651760"/>
            <a:ext cx="5486400" cy="27432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8803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4BE"/>
                </a:solidFill>
                <a:latin typeface="Calibri"/>
              </a:rPr>
              <a:t>Dataset:  Renicames/turkish-law-chatbot  (Apache-2.0)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6440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4BE"/>
                </a:solidFill>
                <a:latin typeface="Calibri"/>
              </a:rPr>
              <a:t>Model:    meta-llama/Llama-3.2-3B-Instruct  +  QLoRA (r=16, 5 epochs)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4845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4BE"/>
                </a:solidFill>
                <a:latin typeface="Calibri"/>
              </a:rPr>
              <a:t>Metrics:  ROUGE-1/2/L · BLEU · chrF++ · TF-IDF · BERTScore F1 (XLM-RoBERTa)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325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4BE"/>
                </a:solidFill>
                <a:latin typeface="Calibri"/>
              </a:rPr>
              <a:t>Code:     github.com/bihter/CSE4078S26_Grp8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6A8A"/>
                </a:solidFill>
                <a:latin typeface="Calibri"/>
              </a:rPr>
              <a:t>CSE4078 Spring 2026  ·  Group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